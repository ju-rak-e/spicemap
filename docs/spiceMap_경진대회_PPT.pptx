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88952" cy="64008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>
                <a:solidFill>
                  <a:srgbClr val="FFFFFF"/>
                </a:solidFill>
              </a:rPr>
              <a:t>BIZ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7BD08D"/>
                </a:solidFill>
              </a:rPr>
              <a:t>창업 입지부터 상권 정책까지 — 흐름으로 읽는 서울 상권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445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A4B8"/>
                </a:solidFill>
              </a:rPr>
              <a:t>"왜 이 상권에서 창업해야 하는가. 데이터가 대답합니다."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A4B8"/>
                </a:solidFill>
              </a:rPr>
              <a:t>2026 서울시 빅데이터 활용 경진대회  |  창업 부문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D08D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제안 배경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04672"/>
            <a:ext cx="11064240" cy="3657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32688"/>
            <a:ext cx="11247120" cy="1005840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73152" cy="1005840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"어디서 뭘 해야 망하지 않을까?"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A4B8"/>
                </a:solidFill>
              </a:rPr>
              <a:t>퇴직 후 창업을 준비하던 부모님이 반복하던 질문에서 BIZ PATH가 시작됐습니다.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3566160" cy="352044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057400"/>
            <a:ext cx="3566160" cy="347472"/>
          </a:xfrm>
          <a:prstGeom prst="rect">
            <a:avLst/>
          </a:prstGeom>
          <a:solidFill>
            <a:srgbClr val="E5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12264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정보 비대칭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514600"/>
            <a:ext cx="3383279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예비 창업자는 유동인구·폐업률·경쟁 분포를
직접 수집·해석하기 어렵습니다.
결국 임대 조건, 주변 조언, 개인 감각에 의존합니다.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057400"/>
            <a:ext cx="3566160" cy="352044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057400"/>
            <a:ext cx="3566160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2112264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중장년층 창업의 특수성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2514600"/>
            <a:ext cx="3383279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퇴직 이후 창업은 단순한 도전이 아닙니다.
실패는 노후 경제 안정과 직결됩니다.
사전에 위험을 줄이는 객관적 근거가 필수입니다.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057400"/>
            <a:ext cx="3566160" cy="352044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2057400"/>
            <a:ext cx="3566160" cy="347472"/>
          </a:xfrm>
          <a:prstGeom prst="rect">
            <a:avLst/>
          </a:prstGeom>
          <a:solidFill>
            <a:srgbClr val="7B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2112264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기존 도구의 한계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514600"/>
            <a:ext cx="3383279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공식 상권변화지표는 결과 스냅샷만 제공합니다.
왜 나빠졌는지 원인 설명이 없고,
흐름 기반 위험 신호는 포함되지 않습니다.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669280"/>
            <a:ext cx="11247120" cy="86868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742432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BIZ PATH는 서울시 공공 빅데이터를 활용해 상권의 유입·유출 흐름, 폐업률, 네트워크 고립도를 분석하고,
복잡한 상권 정보를 예비 창업자도 한 화면에서 직관적으로 확인할 수 있는 형태로 제공합니다.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D08D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출품작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BIZ PATH — 공공데이터 기반 상권 위험 진단 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3657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3566160" cy="201168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3566160" cy="347472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27632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AI 창업 입지 추천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29967"/>
            <a:ext cx="33832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업종·자치구 선택 → 추천·주의·비추천 9개 상권
+ Claude AI 자연어 해설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572768"/>
            <a:ext cx="3566160" cy="201168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572768"/>
            <a:ext cx="3566160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627632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GRI 위험지수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029967"/>
            <a:ext cx="33832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폐업률·순유출·고립도 결합 → 0~100 점수
상권 침체 위험 사전 감지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572768"/>
            <a:ext cx="3566160" cy="201168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572768"/>
            <a:ext cx="3566160" cy="347472"/>
          </a:xfrm>
          <a:prstGeom prst="rect">
            <a:avLst/>
          </a:prstGeom>
          <a:solidFill>
            <a:srgbClr val="7B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627632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OD 이동 흐름 시각화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29967"/>
            <a:ext cx="33832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실시간 인구 이동 흐름 애니메이션
목적·시간대별 필터링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85615"/>
            <a:ext cx="3566160" cy="201168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85615"/>
            <a:ext cx="3566160" cy="347472"/>
          </a:xfrm>
          <a:prstGeom prst="rect">
            <a:avLst/>
          </a:prstGeom>
          <a:solidFill>
            <a:srgbClr val="C0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840479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3D 상권 시각화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242816"/>
            <a:ext cx="33832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Deck.gl 3D 뷰 — GRI·순유입·폐업률 기준
원기둥 높이·색상으로 위험도 표현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785615"/>
            <a:ext cx="3566160" cy="201168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785615"/>
            <a:ext cx="3566160" cy="347472"/>
          </a:xfrm>
          <a:prstGeom prst="rect">
            <a:avLst/>
          </a:prstGeom>
          <a:solidFill>
            <a:srgbClr val="E5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7408" y="3840479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흐름 단절 구간 시각화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4242816"/>
            <a:ext cx="33832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연결이 약해진 상권 구간 실 도로 경로 기반 표시
'어디와의 연결이 끊겼는가' 직관 확인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785615"/>
            <a:ext cx="3566160" cy="201168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785615"/>
            <a:ext cx="3566160" cy="347472"/>
          </a:xfrm>
          <a:prstGeom prst="rect">
            <a:avLst/>
          </a:prstGeom>
          <a:solidFill>
            <a:srgbClr val="8AA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3840479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정책 추천 카드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4242816"/>
            <a:ext cx="33832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GRI 신호 → R4~R7 룰 자동 매칭
규칙 기반 · 환각 없음 · CSV 출력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D08D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페르소나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이런 분들을 위해 만들었습니다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3657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394960" cy="41148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394960" cy="40233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09344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페르소나 A  |  예비 창업자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29968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김미숙 · 53세 · 송파구 · 가정주부 25년 → 반찬가게 보조 2년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8AA4B8"/>
                </a:solidFill>
              </a:rPr>
              <a:t>강남구 어딘가에 반찬가게를 차릴까 망설이고 있다.</a:t>
            </a:r>
          </a:p>
          <a:p>
            <a:pPr algn="l"/>
            <a:r>
              <a:rPr sz="1100" b="0">
                <a:solidFill>
                  <a:srgbClr val="8AA4B8"/>
                </a:solidFill>
              </a:rPr>
              <a:t>젊었을 때라면 실패해도 다시 시작하면 그만이었지만,</a:t>
            </a:r>
          </a:p>
          <a:p>
            <a:pPr algn="l"/>
            <a:r>
              <a:rPr sz="1100" b="1">
                <a:solidFill>
                  <a:srgbClr val="FFFFFF"/>
                </a:solidFill>
              </a:rPr>
              <a:t>이제는 퇴직금이 전부다. 이 한 번이 마지막 기회다.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8AA4B8"/>
                </a:solidFill>
              </a:rPr>
              <a:t>• 인터넷 검색과 지인 조언만으로는 불안하다</a:t>
            </a:r>
          </a:p>
          <a:p>
            <a:pPr algn="l"/>
            <a:r>
              <a:rPr sz="1100" b="0">
                <a:solidFill>
                  <a:srgbClr val="8AA4B8"/>
                </a:solidFill>
              </a:rPr>
              <a:t>• 어느 골목이 실제로 사람이 오가는지 모른다</a:t>
            </a:r>
          </a:p>
          <a:p>
            <a:pPr algn="l"/>
            <a:r>
              <a:rPr sz="1100" b="0">
                <a:solidFill>
                  <a:srgbClr val="8AA4B8"/>
                </a:solidFill>
              </a:rPr>
              <a:t>• 비슷한 반찬가게가 얼마나 버티는지 알고 싶다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7BD08D"/>
                </a:solidFill>
              </a:rPr>
              <a:t>필요한 것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"강남 어느 상권에 들어가면 안 되는지
숫자로 먼저 알려줘."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394960" cy="41148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394960" cy="40233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609344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페르소나 B  |  소상공인 담당 공무원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029968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박민준 · 41세 · 관악구 경제과 소속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8AA4B8"/>
                </a:solidFill>
              </a:rPr>
              <a:t>분기마다 관악구 전체 상권을 훑어 위험 상권을</a:t>
            </a:r>
          </a:p>
          <a:p>
            <a:pPr algn="l"/>
            <a:r>
              <a:rPr sz="1100" b="0">
                <a:solidFill>
                  <a:srgbClr val="8AA4B8"/>
                </a:solidFill>
              </a:rPr>
              <a:t>직접 골라내야 하는데, 기준도 없고 시간도 없다.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• GRI로 위험 상권 자동 식별 → 직접 뒤질 필요 없음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• 상권 클릭 → 폐업률·유동인구 즉시 확인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• 정책 카드(R4~R7) 자동 생성 → 대응 방향 즉시 파악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• CSV 출력 → 수기 작업 없이 결재 자료로 바로 전환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F5C518"/>
                </a:solidFill>
              </a:rPr>
              <a:t>필요한 것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"어느 상권이 위험한지 자동으로 뽑아주고,
이유까지 문서로 나오면 된다."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D08D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페르소나 C  —  김미숙의 이야기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04672"/>
            <a:ext cx="11064240" cy="3657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32688"/>
            <a:ext cx="11247120" cy="868680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73152" cy="868680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2412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"5천만원 까먹고 빈손으로 나오는 동네 아주머니가 되는 게 제일 무섭습니다."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A4B8"/>
                </a:solidFill>
              </a:rPr>
              <a:t>김미숙 · 53세 · 송파구 가락동 · 가정주부 25년 → 동네 반찬가게 보조 2년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5394960" cy="416052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116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BD08D"/>
                </a:solidFill>
              </a:rPr>
              <a:t>상황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95728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강남구 어딘가에 반찬가게를 차릴까 망설이고 있다.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젊었을 때라면 실패해도 다시 시작하면 그만이었지만,</a:t>
            </a:r>
          </a:p>
          <a:p>
            <a:pPr algn="l"/>
            <a:r>
              <a:rPr sz="1100" b="1">
                <a:solidFill>
                  <a:srgbClr val="FFFFFF"/>
                </a:solidFill>
              </a:rPr>
              <a:t>이제는 퇴직금이 전부다. 이 한 번이 마지막 기회다.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8AA4B8"/>
                </a:solidFill>
              </a:rPr>
              <a:t>• 인터넷 검색과 지인 조언만으로는 불안하다</a:t>
            </a:r>
          </a:p>
          <a:p>
            <a:pPr algn="l"/>
            <a:r>
              <a:rPr sz="1100" b="0">
                <a:solidFill>
                  <a:srgbClr val="8AA4B8"/>
                </a:solidFill>
              </a:rPr>
              <a:t>• 어느 골목이 실제로 사람이 오가는지 모른다</a:t>
            </a:r>
          </a:p>
          <a:p>
            <a:pPr algn="l"/>
            <a:r>
              <a:rPr sz="1100" b="0">
                <a:solidFill>
                  <a:srgbClr val="8AA4B8"/>
                </a:solidFill>
              </a:rPr>
              <a:t>• 비슷한 반찬가게가 얼마나 버티는지 알고 싶다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F5C518"/>
                </a:solidFill>
              </a:rPr>
              <a:t>강남이면 좋겠는데...</a:t>
            </a:r>
          </a:p>
          <a:p>
            <a:pPr algn="l"/>
            <a:r>
              <a:rPr sz="1100" b="0">
                <a:solidFill>
                  <a:srgbClr val="8AA4B8"/>
                </a:solidFill>
              </a:rPr>
              <a:t>• 매출은 크겠지만 임대료·권리금이 무섭다</a:t>
            </a:r>
          </a:p>
          <a:p>
            <a:pPr algn="l"/>
            <a:r>
              <a:rPr sz="1100" b="1">
                <a:solidFill>
                  <a:srgbClr val="7BB8D0"/>
                </a:solidFill>
              </a:rPr>
              <a:t>관악이면 여유 있는데...</a:t>
            </a:r>
          </a:p>
          <a:p>
            <a:pPr algn="l"/>
            <a:r>
              <a:rPr sz="1100" b="0">
                <a:solidFill>
                  <a:srgbClr val="8AA4B8"/>
                </a:solidFill>
              </a:rPr>
              <a:t>• 임대료는 괜찮지만 사람이 줄면 어떡하나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FFFFFF"/>
                </a:solidFill>
              </a:rPr>
              <a:t>딸이 말했다: "엄마 이번엔 데이터 보고 정해"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920240"/>
            <a:ext cx="5394960" cy="416052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0116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</a:rPr>
              <a:t>BIZ PATH가 답해야 할 질문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450592"/>
            <a:ext cx="502920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505456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"여기 사람이 진짜 다니나?"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87121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D08D"/>
                </a:solidFill>
              </a:rPr>
              <a:t>→ OD 흐름 · 유입 시계열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346704"/>
            <a:ext cx="502920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40156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"지금은 좋아도 곧 무너지는 거 아냐?"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76732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D08D"/>
                </a:solidFill>
              </a:rPr>
              <a:t>→ GRI 위험지수 · 흡수형/방출형 분류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4242816"/>
            <a:ext cx="502920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29768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"임대료 더 세질 동네인가?"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6634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D08D"/>
                </a:solidFill>
              </a:rPr>
              <a:t>→ 강남 과열 신호 탐지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5138928"/>
            <a:ext cx="502920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519379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"딸한테 어떻게 보여주지?"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5595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D08D"/>
                </a:solidFill>
              </a:rPr>
              <a:t>→ CSV 다운로드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D08D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공공데이터 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서울시 공공데이터 5종을 결합했습니다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3657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1618488" cy="457200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627632"/>
            <a:ext cx="151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코드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572768"/>
            <a:ext cx="3630168" cy="457200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57984" y="1627632"/>
            <a:ext cx="3529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데이터셋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572768"/>
            <a:ext cx="2807208" cy="457200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15583" y="1627632"/>
            <a:ext cx="2706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출처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1572768"/>
            <a:ext cx="3081528" cy="457200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50224" y="1627632"/>
            <a:ext cx="29809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활용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029967"/>
            <a:ext cx="1618488" cy="4572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2075687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D08D"/>
                </a:solidFill>
              </a:rPr>
              <a:t>OA-14991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2029967"/>
            <a:ext cx="3630168" cy="4572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57984" y="2075687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서울 생활인구 (내국인)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2029967"/>
            <a:ext cx="2807208" cy="4572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15583" y="2075687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서울 열린데이터광장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2029967"/>
            <a:ext cx="3081528" cy="4572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50224" y="2075687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시간대별 유동인구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487168"/>
            <a:ext cx="1618488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2532887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D08D"/>
                </a:solidFill>
              </a:rPr>
              <a:t>OA-15577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2487168"/>
            <a:ext cx="3630168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57984" y="2532887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우리마을가게 상권분석 (점포)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2487168"/>
            <a:ext cx="2807208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15583" y="2532887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서울 열린데이터광장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2487168"/>
            <a:ext cx="3081528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50224" y="2532887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폐업률 · 점포 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944368"/>
            <a:ext cx="1618488" cy="4572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2990087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D08D"/>
                </a:solidFill>
              </a:rPr>
              <a:t>OA-15572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20" y="2944368"/>
            <a:ext cx="3630168" cy="4572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57984" y="2990087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우리마을가게 상권분석 (추정매출)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2944368"/>
            <a:ext cx="2807208" cy="4572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15583" y="2990087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서울 열린데이터광장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95360" y="2944368"/>
            <a:ext cx="3081528" cy="4572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50224" y="2990087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매출 기반 가중치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401568"/>
            <a:ext cx="1618488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" y="3447287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D08D"/>
                </a:solidFill>
              </a:rPr>
              <a:t>OA-15576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03120" y="3401568"/>
            <a:ext cx="3630168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57984" y="3447287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서울시 상권변화지표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0" y="3401568"/>
            <a:ext cx="2807208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15583" y="3447287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서울 열린데이터광장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95360" y="3401568"/>
            <a:ext cx="3081528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50224" y="3447287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B1 베이스라인 비교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858768"/>
            <a:ext cx="1618488" cy="4572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" y="3904487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D08D"/>
                </a:solidFill>
              </a:rPr>
              <a:t>OA-22300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03120" y="3858768"/>
            <a:ext cx="3630168" cy="4572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57984" y="3904487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수도권 광역 OD 기종점통행량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60720" y="3858768"/>
            <a:ext cx="2807208" cy="4572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15583" y="3904487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공공데이터포털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95360" y="3858768"/>
            <a:ext cx="3081528" cy="4572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50224" y="3904487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이동 흐름 핵심 데이터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206240"/>
            <a:ext cx="11247120" cy="118872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42793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BD08D"/>
                </a:solidFill>
              </a:rPr>
              <a:t>공간 결합 방식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464515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행정동 경계(행안부 SHP) × 상권 경계(서울시 SHP)  →  GeoPandas gpd.overlay() 공간 결합 (EPSG:5179 투영)
→  adm_comm_mapping 테이블 생성  →  5개 데이터셋을 상권 단위로 통합하는 기반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D08D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핵심 기능 ①  AI 창업 입지 추천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추천만 주는 게 아닙니다. 왜 비추천인지도 알려드립니다.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3657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BD08D"/>
                </a:solidFill>
              </a:rPr>
              <a:t>동작 방식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① 창업 희망 업종 + 관심 자치구 선택 후 '분석하기' 클릭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② GRI · 유동인구 · 폐업률 · 점포 수 · 중심성 5개 지표로 상권 점수화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③ 추천(상위 30%) / 주의(중간 40%) / 비추천(하위 30%) 분류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④ 각 등급 상위 3개씩, 총 9개 선별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⑤ Claude API가 수치 읽고 추천 이유·주의사항을 자연어로 생성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572768"/>
            <a:ext cx="2624328" cy="420624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98464" y="1627632"/>
            <a:ext cx="2523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지표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1572768"/>
            <a:ext cx="1161288" cy="420624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0224" y="1627632"/>
            <a:ext cx="1060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가중치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1572768"/>
            <a:ext cx="2258568" cy="420624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38944" y="1627632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방향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993392"/>
            <a:ext cx="2624328" cy="420624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98464" y="203911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D08D"/>
                </a:solidFill>
              </a:rPr>
              <a:t>GRI 위험도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1993392"/>
            <a:ext cx="1161288" cy="420624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2039112"/>
            <a:ext cx="1060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0.25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84080" y="1993392"/>
            <a:ext cx="2258568" cy="420624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38944" y="2039112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낮을수록 유리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2414016"/>
            <a:ext cx="2624328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98464" y="2459736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D08D"/>
                </a:solidFill>
              </a:rPr>
              <a:t>폐업률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2414016"/>
            <a:ext cx="1161288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50224" y="2459736"/>
            <a:ext cx="1060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0.25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2414016"/>
            <a:ext cx="2258568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38944" y="245973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낮을수록 유리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2834640"/>
            <a:ext cx="2624328" cy="420624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98464" y="288036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D08D"/>
                </a:solidFill>
              </a:rPr>
              <a:t>유동인구 (순유입)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2834640"/>
            <a:ext cx="1161288" cy="420624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50224" y="2880360"/>
            <a:ext cx="1060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0.20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84080" y="2834640"/>
            <a:ext cx="2258568" cy="420624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8944" y="2880360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높을수록 유리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3255264"/>
            <a:ext cx="2624328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8464" y="3300984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D08D"/>
                </a:solidFill>
              </a:rPr>
              <a:t>업종 점포 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0" y="3255264"/>
            <a:ext cx="1161288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50224" y="3300984"/>
            <a:ext cx="1060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0.20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84080" y="3255264"/>
            <a:ext cx="2258568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3300984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중간값 선호 (경쟁 포화 반영)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3675888"/>
            <a:ext cx="2624328" cy="420624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98464" y="3721608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D08D"/>
                </a:solidFill>
              </a:rPr>
              <a:t>네트워크 중심성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95360" y="3675888"/>
            <a:ext cx="1161288" cy="420624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50224" y="3721608"/>
            <a:ext cx="1060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0.10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84080" y="3675888"/>
            <a:ext cx="2258568" cy="420624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38944" y="3721608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높을수록 유리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A4B8"/>
                </a:solidFill>
              </a:rPr>
              <a:t>💡  화면 캡처: 추천·주의·비추천 카드 결과 화면  — 여기에 삽입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D08D"/>
                </a:solidFill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핵심 기능 ②  GRI 상권 위험지수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매출이 멀쩡해도 흐름이 끊긴 상권을 미리 잡아냅니다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3657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11247120" cy="9144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BD08D"/>
                </a:solidFill>
              </a:rPr>
              <a:t>GRI (Gentrification Risk Index)  —  0~100점, 높을수록 위험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476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폐업률 · 인구 순유출 · 네트워크 고립도 3가지를 z-score 정규화 후 가중 결합, percentile rank 0~100 변환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11247120" cy="777240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C518"/>
                </a:solidFill>
              </a:rPr>
              <a:t>GRI  =  0.40 × z(폐업률)  +  0.33 × z(순유출)  +  0.27 × z(고립도)   →   percentile rank 0~100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BD08D"/>
                </a:solidFill>
              </a:rPr>
              <a:t>왜 필요한가?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• 매출만 보면 강남 압구정은 항상 '안전'으로 분류 — 흐름 신호를 놓침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• 유입 감소·연결성 약화를 매출 감소보다 먼저 포착해 사전 경고 가능</a:t>
            </a:r>
          </a:p>
          <a:p>
            <a:pPr algn="l"/>
            <a:r>
              <a:rPr sz="1200" b="1">
                <a:solidFill>
                  <a:srgbClr val="F5C518"/>
                </a:solidFill>
              </a:rPr>
              <a:t>• H3 검증: GRI 상위 20% 상권의 다음 분기 폐업률이 하위 80%의 14.5배 (p=8×10⁻³¹)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A4B8"/>
                </a:solidFill>
              </a:rPr>
              <a:t>💡  화면 캡처: 상권 클릭 시 GRI 게이지 + 분기별 추이 차트  — 여기에 삽입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D08D"/>
                </a:solidFill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핵심 기능 ③  인구 이동 흐름 기반 위험 탐지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단순 매출 지표로는 보이지 않는 흐름 기반 위험 신호를 감지합니다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3657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BD08D"/>
                </a:solidFill>
              </a:rPr>
              <a:t>데이터 출처</a:t>
            </a:r>
          </a:p>
          <a:p>
            <a:pPr algn="l"/>
            <a:r>
              <a:rPr sz="1100" b="0">
                <a:solidFill>
                  <a:srgbClr val="8AA4B8"/>
                </a:solidFill>
              </a:rPr>
              <a:t>수도권 광역 OD 기종점통행량 (OA-22300) — 행정동 단위 → 상권 단위로 변환</a:t>
            </a:r>
          </a:p>
          <a:p>
            <a:pPr algn="l"/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7BD08D"/>
                </a:solidFill>
              </a:rPr>
              <a:t>분석 방법 (NetworkX 유향 그래프)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• 상권 간 이동 네트워크 구축 → net_flow, in/out_degree, centrality 산출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• 유입 감소 · 유출 증가 · 연결성 약화를 수치로 포착</a:t>
            </a:r>
          </a:p>
          <a:p>
            <a:pPr algn="l"/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7BD08D"/>
                </a:solidFill>
              </a:rPr>
              <a:t>시각화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• 출근·귀가·쇼핑·여가 목적별 이동 흐름 필터링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• 0~23시 시간대 슬라이더로 시간축 재생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572768"/>
            <a:ext cx="5394960" cy="41148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68249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18"/>
                </a:solidFill>
              </a:rPr>
              <a:t>창업자에게 주는 의미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14884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"오전 10시 이 상권에 쇼핑 목적 유입이 많다"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→ 카페 운영 시간대 최적화 가능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→ 인근 직장인 점심 수요 파악 가능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→ 야간 영업 필요 여부 판단 가능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FFFFFF"/>
                </a:solidFill>
              </a:rPr>
              <a:t>"이 상권은 들어오는 사람보다 나가는 사람이 많다"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E5534B"/>
                </a:solidFill>
              </a:rPr>
              <a:t>→ 순유출 증가 = 상권 침체 조기 신호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A4B8"/>
                </a:solidFill>
              </a:rPr>
              <a:t>💡  화면 캡처: OD 흐름 애니메이션 켜진 지도 화면  — 여기에 삽입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D08D"/>
                </a:solidFill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핵심 기능 ④  상권 상세 패널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상권을 클릭하면 판단에 필요한 정보가 한 화면에 모입니다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3657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5394960" cy="150876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5394960" cy="347472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276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GRI 위험 게이지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29967"/>
            <a:ext cx="521208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0~100 점수 + 자치구 내 백분위
분기별 추이 차트 (악화/개선 방향)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572768"/>
            <a:ext cx="5394960" cy="150876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572768"/>
            <a:ext cx="5394960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6276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유동인구 순유입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2029967"/>
            <a:ext cx="521208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OD 기반 해당 상권 순유입량
시간대·목적별 분포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64408"/>
            <a:ext cx="5394960" cy="150876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264408"/>
            <a:ext cx="5394960" cy="347472"/>
          </a:xfrm>
          <a:prstGeom prst="rect">
            <a:avLst/>
          </a:prstGeom>
          <a:solidFill>
            <a:srgbClr val="E5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192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전 폐업률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721608"/>
            <a:ext cx="521208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상권 전 업종 기준 폐업률
서울 평균 대비 위치 · 최근 4분기 추이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264408"/>
            <a:ext cx="5394960" cy="150876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3264408"/>
            <a:ext cx="5394960" cy="347472"/>
          </a:xfrm>
          <a:prstGeom prst="rect">
            <a:avLst/>
          </a:prstGeom>
          <a:solidFill>
            <a:srgbClr val="7B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33192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업종 점포 현황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3721608"/>
            <a:ext cx="521208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동일 업종 점포 수 · 업종별 폐업률
경쟁 밀도 파악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56048"/>
            <a:ext cx="5394960" cy="150876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956048"/>
            <a:ext cx="5394960" cy="347472"/>
          </a:xfrm>
          <a:prstGeom prst="rect">
            <a:avLst/>
          </a:prstGeom>
          <a:solidFill>
            <a:srgbClr val="C0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0109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창업 판단 요약  (AI 분석)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413248"/>
            <a:ext cx="521208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총평 · 검토 업종 · 주의 업종
Claude Haiku 기반 · 흐름+GRI 근거 포함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4956048"/>
            <a:ext cx="5394960" cy="150876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4956048"/>
            <a:ext cx="5394960" cy="347472"/>
          </a:xfrm>
          <a:prstGeom prst="rect">
            <a:avLst/>
          </a:prstGeom>
          <a:solidFill>
            <a:srgbClr val="8AA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8" y="50109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지자체 대응 제안 (참고용)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5413248"/>
            <a:ext cx="521208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GRI 신호 기반 R4~R7 룰 자동 매칭
수치 근거 포함 · 실제 시행 정책 아님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A4B8"/>
                </a:solidFill>
              </a:rPr>
              <a:t>💡  화면 캡처: 상권 클릭 시 상세 패널 전체 화면  — 여기에 삽입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D08D"/>
                </a:solidFill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핵심 기능 ⑤  흐름 단절 구간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'어느 상권이 위험한가'를 넘어 '어디와의 연결이 약해졌는가'를 보여줍니다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3657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BD08D"/>
                </a:solidFill>
              </a:rPr>
              <a:t>단절 위험 3단계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29968"/>
            <a:ext cx="978408" cy="40233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3" y="2084832"/>
            <a:ext cx="8778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2029968"/>
            <a:ext cx="1344168" cy="40233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9344" y="2084832"/>
            <a:ext cx="1243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점수 기준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029968"/>
            <a:ext cx="978408" cy="40233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0944" y="2084832"/>
            <a:ext cx="8778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색상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2029968"/>
            <a:ext cx="2075688" cy="40233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86784" y="2084832"/>
            <a:ext cx="197510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상태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432304"/>
            <a:ext cx="978408" cy="402336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3" y="2478024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D08D"/>
                </a:solidFill>
              </a:rPr>
              <a:t>HIGH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2432304"/>
            <a:ext cx="1344168" cy="402336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9344" y="2478024"/>
            <a:ext cx="12435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0.75 이상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2432304"/>
            <a:ext cx="978408" cy="402336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80944" y="2478024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빨강 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432304"/>
            <a:ext cx="2075688" cy="402336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86784" y="2478024"/>
            <a:ext cx="19751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두 상권 연결이 거의 끊김 — 즉각 주목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834640"/>
            <a:ext cx="978408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3" y="2880360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D08D"/>
                </a:solidFill>
              </a:rP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4480" y="2834640"/>
            <a:ext cx="1344168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9344" y="2880360"/>
            <a:ext cx="12435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0.45 ~ 0.74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2834640"/>
            <a:ext cx="978408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80944" y="2880360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분홍 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1920" y="2834640"/>
            <a:ext cx="2075688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86784" y="2880360"/>
            <a:ext cx="19751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흐름 약화 진행 중 — 추세 모니터링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236976"/>
            <a:ext cx="978408" cy="402336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3" y="3282696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D08D"/>
                </a:solidFill>
              </a:rPr>
              <a:t>LOW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4480" y="3236976"/>
            <a:ext cx="1344168" cy="402336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09344" y="3282696"/>
            <a:ext cx="12435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0.45 미만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3236976"/>
            <a:ext cx="978408" cy="402336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80944" y="3282696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보라 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31920" y="3236976"/>
            <a:ext cx="2075688" cy="402336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86784" y="3282696"/>
            <a:ext cx="19751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이상 징후 초기 — 경과 관찰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639312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534B"/>
                </a:solidFill>
              </a:rPr>
              <a:t>단절 위험이 높으면?</a:t>
            </a:r>
          </a:p>
          <a:p>
            <a:pPr algn="l"/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두 상권 사이의 이동 흐름이 크게 약해진 상태입니다.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F5C518"/>
                </a:solidFill>
              </a:rPr>
              <a:t>→  해당 상권으로 유입되는 고객 공급이 감소 중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→  GRI 위험도 상승 · 폐업률 증가로 이어질 수 있음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8AA4B8"/>
                </a:solidFill>
              </a:rPr>
              <a:t>선 굵기 = 영향받는 유동량에 비례 (최대 기준 1만 명)</a:t>
            </a:r>
          </a:p>
          <a:p>
            <a:pPr algn="l"/>
            <a:r>
              <a:rPr sz="1000" b="0">
                <a:solidFill>
                  <a:srgbClr val="8AA4B8"/>
                </a:solidFill>
              </a:rPr>
              <a:t>굵을수록 더 많은 사람이 영향권에 있다는 의미입니다.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1572768"/>
            <a:ext cx="5303520" cy="41148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01968" y="1682496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18"/>
                </a:solidFill>
              </a:rPr>
              <a:t>기존 시각화와의 차이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1968" y="21488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AA4B8"/>
                </a:solidFill>
              </a:rPr>
              <a:t>기존 방식</a:t>
            </a:r>
          </a:p>
          <a:p>
            <a:pPr algn="l"/>
            <a:r>
              <a:rPr sz="1100" b="0">
                <a:solidFill>
                  <a:srgbClr val="8AA4B8"/>
                </a:solidFill>
              </a:rPr>
              <a:t>출발지 · 도착지를 직선으로 연결</a:t>
            </a:r>
          </a:p>
          <a:p>
            <a:pPr algn="l"/>
            <a:r>
              <a:rPr sz="1100" b="0">
                <a:solidFill>
                  <a:srgbClr val="8AA4B8"/>
                </a:solidFill>
              </a:rPr>
              <a:t>지도 위에 떠 있는 선 → 실제 이동 경로와 무관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FFFFFF"/>
                </a:solidFill>
              </a:rPr>
              <a:t>BIZ PATH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ORS API로 실제 도로 경로를 계산</a:t>
            </a:r>
          </a:p>
          <a:p>
            <a:pPr algn="l"/>
            <a:r>
              <a:rPr sz="1100" b="1">
                <a:solidFill>
                  <a:srgbClr val="7BD08D"/>
                </a:solidFill>
              </a:rPr>
              <a:t>흐름 선이 실제 도로 위를 따라 표시됨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F5C518"/>
                </a:solidFill>
              </a:rPr>
              <a:t>안정성 설계</a:t>
            </a:r>
          </a:p>
          <a:p>
            <a:pPr algn="l"/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ORS API 장애 시 자동 fallback → 캐시 재생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발표 중단 없이 정상 시연 가능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A4B8"/>
                </a:solidFill>
              </a:rPr>
              <a:t>💡  화면 캡처: 흐름 단절 구간이 표시된 지도 화면  — 여기에 삽입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D08D"/>
                </a:solidFill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핵심 기능 ⑥  3D 상권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위험도를 높이와 색상으로 표현하는 입체 지도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3657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BD08D"/>
                </a:solidFill>
              </a:rPr>
              <a:t>어떻게 동작하나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① 3D 모드 ON → 지도가 45도 기울어진 입체 시점으로 전환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② 각 상권 위치에 원기둥(CommerceColumnLayer)이 표시됨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③ 원기둥 높이와 색상으로 위험도를 직관적으로 파악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49039"/>
            <a:ext cx="3172968" cy="457200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3" y="3803903"/>
            <a:ext cx="30723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기준 지표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3749039"/>
            <a:ext cx="7653528" cy="457200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03903" y="3803903"/>
            <a:ext cx="75529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원기둥 의미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3172968" cy="4572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3" y="4251959"/>
            <a:ext cx="3072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D08D"/>
                </a:solidFill>
              </a:rPr>
              <a:t>GRI 위험도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4206240"/>
            <a:ext cx="7653528" cy="4572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03903" y="4251959"/>
            <a:ext cx="7552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높을수록 위험한 상권 — 빨간색 + 높은 기둥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663440"/>
            <a:ext cx="3172968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3" y="4709159"/>
            <a:ext cx="3072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D08D"/>
                </a:solidFill>
              </a:rPr>
              <a:t>순유입 인구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39" y="4663440"/>
            <a:ext cx="7653528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03903" y="4709159"/>
            <a:ext cx="7552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높을수록 유동인구가 많은 상권 — 초록색 + 높은 기둥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120640"/>
            <a:ext cx="3172968" cy="4572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3" y="5166359"/>
            <a:ext cx="3072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D08D"/>
                </a:solidFill>
              </a:rPr>
              <a:t>폐업률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39" y="5120640"/>
            <a:ext cx="7653528" cy="4572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03903" y="5166359"/>
            <a:ext cx="7552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높을수록 폐업 위험 큰 상권 — 주황색 + 높은 기둥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577840"/>
            <a:ext cx="3172968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3" y="5623559"/>
            <a:ext cx="3072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D08D"/>
                </a:solidFill>
              </a:rPr>
              <a:t>연결 중심성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5577840"/>
            <a:ext cx="7653528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03903" y="5623559"/>
            <a:ext cx="7552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높을수록 상권 네트워크에서 중심적 역할 — 파란색 + 높은 기둥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A4B8"/>
                </a:solidFill>
              </a:rPr>
              <a:t>💡  화면 캡처: 3D 상권 시각화 화면  — 여기에 삽입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D08D"/>
                </a:solidFill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기술성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생성형 AI · 네트워크 분석 · 통계를 결합했습니다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3657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3566160" cy="36576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3566160" cy="347472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27632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생성형 AI
Anthropic Claude Haiku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29967"/>
            <a:ext cx="338327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창업 어드바이저 자연어 해설 생성
입력: 9개 상권 수치 데이터
출력: 추천·비추천 이유 + 주의사항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572768"/>
            <a:ext cx="3566160" cy="36576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572768"/>
            <a:ext cx="3566160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627632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네트워크 분석
NetworkX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029967"/>
            <a:ext cx="338327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상권 간 OD 이동 유향 그래프 구축
net_flow · centrality 산출
OD 데이터를 상권 단위로 면적 배분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572768"/>
            <a:ext cx="3566160" cy="36576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572768"/>
            <a:ext cx="3566160" cy="347472"/>
          </a:xfrm>
          <a:prstGeom prst="rect">
            <a:avLst/>
          </a:prstGeom>
          <a:solidFill>
            <a:srgbClr val="7B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627632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통계 분석
scipy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29967"/>
            <a:ext cx="338327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Pearson 상관 (H1 유입↔매출)
Welch t-test (H3 GRI↔폐업)
z-score 정규화 (GRI 합산)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D08D"/>
                </a:solidFill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기존 서비스와의 차별성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기존 지표가 '안전'이라 분류한 상권, BIZ PATH는 위험을 먼저 감지합니다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3657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5394960" cy="448056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5394960" cy="40233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비교 ①  서울시 공식 상권변화지표와 비교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48256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BD08D"/>
                </a:solidFill>
              </a:rPr>
              <a:t>공식 지표란?</a:t>
            </a:r>
          </a:p>
          <a:p>
            <a:pPr algn="l"/>
            <a:r>
              <a:rPr sz="1000" b="0">
                <a:solidFill>
                  <a:srgbClr val="8AA4B8"/>
                </a:solidFill>
              </a:rPr>
              <a:t>서울시가 분기마다 발표하는 상권 상태 등급.
'정체·주의·상권쇠퇴·다이나믹' 4단계로 분류.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7BD08D"/>
                </a:solidFill>
              </a:rPr>
              <a:t>비교 결과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두 모델이 같은 상권을 위험으로 보는 비율: 58%</a:t>
            </a:r>
          </a:p>
          <a:p>
            <a:pPr algn="l"/>
            <a:r>
              <a:rPr sz="1000" b="0">
                <a:solidFill>
                  <a:srgbClr val="8AA4B8"/>
                </a:solidFill>
              </a:rPr>
              <a:t>→ 공식 지표에는 없지만 BIZ PATH가 흐름 기반으로
   추가 위험 신호를 감지한 상권: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5876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C518"/>
                </a:solidFill>
              </a:rPr>
              <a:t>187개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177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D08D"/>
                </a:solidFill>
              </a:rPr>
              <a:t>공식 지표 미포착이 아닌, 흐름 기준 추가 감지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572768"/>
            <a:ext cx="5394960" cy="448056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572768"/>
            <a:ext cx="5394960" cy="402336"/>
          </a:xfrm>
          <a:prstGeom prst="rect">
            <a:avLst/>
          </a:prstGeom>
          <a:solidFill>
            <a:srgbClr val="7B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627632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비교 ②  기존 매출 추세 모델과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048256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BB8D0"/>
                </a:solidFill>
              </a:rPr>
              <a:t>기존 매출 추세 모델이란?</a:t>
            </a:r>
          </a:p>
          <a:p>
            <a:pPr algn="l"/>
            <a:r>
              <a:rPr sz="1000" b="0">
                <a:solidFill>
                  <a:srgbClr val="8AA4B8"/>
                </a:solidFill>
              </a:rPr>
              <a:t>직전 분기 매출 증감만으로 위험 상권을 판단하는 방식.
매출이 멀쩡하면 '안전'으로 분류.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7BB8D0"/>
                </a:solidFill>
              </a:rPr>
              <a:t>비교 결과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두 모델이 같은 상권을 위험으로 보는 비율: 15%</a:t>
            </a:r>
          </a:p>
          <a:p>
            <a:pPr algn="l"/>
            <a:r>
              <a:rPr sz="1000" b="0">
                <a:solidFill>
                  <a:srgbClr val="8AA4B8"/>
                </a:solidFill>
              </a:rPr>
              <a:t>→ 매출은 정상이지만 흐름이 끊긴 상권, BIZ PATH 추가 포착: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85876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C518"/>
                </a:solidFill>
              </a:rPr>
              <a:t>231개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46177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B8D0"/>
                </a:solidFill>
              </a:rPr>
              <a:t>매출이 아닌 '흐름'으로 보기 때문에 가능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D08D"/>
                </a:solidFill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통계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1,650개 상권 데이터로 지표의 유효성을 직접 검증했습니다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3657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36192"/>
            <a:ext cx="5394960" cy="169164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36192"/>
            <a:ext cx="5394960" cy="347472"/>
          </a:xfrm>
          <a:prstGeom prst="rect">
            <a:avLst/>
          </a:prstGeom>
          <a:solidFill>
            <a:srgbClr val="7B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9105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H1  |  유입이 많으면 매출도 높은가?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38528"/>
            <a:ext cx="49377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r = 0.106 / p = 2.83×10⁻⁵ / n = 1,565개 상권</a:t>
            </a:r>
          </a:p>
          <a:p>
            <a:pPr algn="l"/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→ 약한 양의 상관 — 유입↑일 때 매출↑ 경향 확인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→ p = 0.00003 = 우연일 확률 0.003%  ✅ 통계 유의</a:t>
            </a:r>
          </a:p>
          <a:p>
            <a:pPr algn="l"/>
            <a:r>
              <a:rPr sz="900" b="0">
                <a:solidFill>
                  <a:srgbClr val="8AA4B8"/>
                </a:solidFill>
              </a:rPr>
              <a:t>단, r=0.11로 효과 크기 약함 — 매출엔 다른 요인도 작용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36192"/>
            <a:ext cx="5394960" cy="169164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536192"/>
            <a:ext cx="5394960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59105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H3  |  GRI 위험 상권은 실제로 더 많이 폐업하는가?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1938528"/>
            <a:ext cx="49377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14.5배 차이 / p = 8×10⁻³¹ / n = 1,650개 상권</a:t>
            </a:r>
          </a:p>
          <a:p>
            <a:pPr algn="l"/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GRI 상위 20% vs 하위 80% — 폐업률 14.5배 차이</a:t>
            </a:r>
          </a:p>
          <a:p>
            <a:pPr algn="l"/>
            <a:r>
              <a:rPr sz="1000" b="1">
                <a:solidFill>
                  <a:srgbClr val="F5C518"/>
                </a:solidFill>
              </a:rPr>
              <a:t>→ p = 8×10⁻³¹  ✅ GRI 예측력 강하게 입증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5394960" cy="169164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337560"/>
            <a:ext cx="5394960" cy="347472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39242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B1  |  서울시 공식 상권변화지표 대비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9896"/>
            <a:ext cx="49377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Jaccard = 0.157 / 추가 식별 187건 / 공통 탐지 143건</a:t>
            </a:r>
          </a:p>
          <a:p>
            <a:pPr algn="l"/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공식 지표(OA-15576)가 잡지 못한 187개 상권을 추가 탐지</a:t>
            </a:r>
          </a:p>
          <a:p>
            <a:pPr algn="l"/>
            <a:r>
              <a:rPr sz="1000" b="1">
                <a:solidFill>
                  <a:srgbClr val="7BD08D"/>
                </a:solidFill>
              </a:rPr>
              <a:t>→ 흐름 기반 신호가 스냅샷 지표와 다른 위험을 포착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337560"/>
            <a:ext cx="5394960" cy="169164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337560"/>
            <a:ext cx="5394960" cy="347472"/>
          </a:xfrm>
          <a:prstGeom prst="rect">
            <a:avLst/>
          </a:prstGeom>
          <a:solidFill>
            <a:srgbClr val="C0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339242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B3  |  기존 매출 추세 모델 대비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739896"/>
            <a:ext cx="49377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Jaccard = 0.151 / 추가 위험 식별 231건</a:t>
            </a:r>
          </a:p>
          <a:p>
            <a:pPr algn="l"/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매출 추세 모델과 거의 겹치지 않음 — 본질적으로 다른 신호</a:t>
            </a:r>
          </a:p>
          <a:p>
            <a:pPr algn="l"/>
            <a:r>
              <a:rPr sz="1000" b="1">
                <a:solidFill>
                  <a:srgbClr val="F5C518"/>
                </a:solidFill>
              </a:rPr>
              <a:t>→ 강남 압구정·청담 등 '안정' 분류 상권도 조기 위험 탐지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120640"/>
            <a:ext cx="11247120" cy="749808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1846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BD08D"/>
                </a:solidFill>
              </a:rPr>
              <a:t>검증 요약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184648"/>
            <a:ext cx="8869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H3·B1·B3 모두 통과. H1 효과 약함·H2 표본 한계(n=39)는 투명 공개. 흐름 기반 탐지는 기존 지표와 본질적으로 다른 위험 신호를 포착합니다.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D08D"/>
                </a:solidFill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개발 과정 및 방법  —  개발 타임라인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5주 스프린트, 데이터 수집부터 AI 기능까지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3657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2212848" cy="402336"/>
          </a:xfrm>
          <a:prstGeom prst="rect">
            <a:avLst/>
          </a:prstGeom>
          <a:solidFill>
            <a:srgbClr val="8AA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62763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Week 1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19" y="1975104"/>
            <a:ext cx="109728" cy="3383280"/>
          </a:xfrm>
          <a:prstGeom prst="rect">
            <a:avLst/>
          </a:prstGeom>
          <a:solidFill>
            <a:srgbClr val="8AA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048256"/>
            <a:ext cx="2212848" cy="324612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214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AA4B8"/>
                </a:solidFill>
              </a:rPr>
              <a:t>데이터 수집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78608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공공데이터 5종 수집 스크립트
PostgreSQL+PostGIS 구축
데이터 품질 검증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0048" y="1572768"/>
            <a:ext cx="2212848" cy="402336"/>
          </a:xfrm>
          <a:prstGeom prst="rect">
            <a:avLst/>
          </a:prstGeom>
          <a:solidFill>
            <a:srgbClr val="7B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62763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Week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21608" y="1975104"/>
            <a:ext cx="109728" cy="3383280"/>
          </a:xfrm>
          <a:prstGeom prst="rect">
            <a:avLst/>
          </a:prstGeom>
          <a:solidFill>
            <a:srgbClr val="7B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70048" y="2048256"/>
            <a:ext cx="2212848" cy="324612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1488" y="21214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BB8D0"/>
                </a:solidFill>
              </a:rPr>
              <a:t>분석 기반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2578608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FastAPI 초기 구축
NetworkX 그래프 분석
GRI v1.0 공식 설계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74336" y="1572768"/>
            <a:ext cx="2212848" cy="40233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162763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Week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25896" y="1975104"/>
            <a:ext cx="109728" cy="3383280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74336" y="2048256"/>
            <a:ext cx="2212848" cy="324612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65776" y="21214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BD08D"/>
                </a:solidFill>
              </a:rPr>
              <a:t>API 고도화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65776" y="2578608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API 5종 완성
Module A/B/D/E 구현
공간 결합 파이프라인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78624" y="1572768"/>
            <a:ext cx="2212848" cy="40233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6" y="162763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Week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30184" y="1975104"/>
            <a:ext cx="109728" cy="33832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78624" y="2048256"/>
            <a:ext cx="2212848" cy="324612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0064" y="21214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</a:rPr>
              <a:t>시각화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2578608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Deck.gl 흐름·3D 레이어
실 도로 경로 단절 시각화
통계 검증 5카드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82912" y="1572768"/>
            <a:ext cx="2212848" cy="402336"/>
          </a:xfrm>
          <a:prstGeom prst="rect">
            <a:avLst/>
          </a:prstGeom>
          <a:solidFill>
            <a:srgbClr val="C0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56064" y="162763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Week 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34472" y="1975104"/>
            <a:ext cx="109728" cy="3383280"/>
          </a:xfrm>
          <a:prstGeom prst="rect">
            <a:avLst/>
          </a:prstGeom>
          <a:solidFill>
            <a:srgbClr val="C0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82912" y="2048256"/>
            <a:ext cx="2212848" cy="324612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4352" y="21214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8AF0"/>
                </a:solidFill>
              </a:rPr>
              <a:t>AI 완성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74352" y="2578608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Claude AI 창업 어드바이저
배포 (Vercel + Railway)
성능 최적화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D08D"/>
                </a:solidFill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개발 과정 및 방법  —  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수집부터 시각화까지 완전 자동화 파이프라인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3657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8778240" cy="73152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1920240" cy="731520"/>
          </a:xfrm>
          <a:prstGeom prst="rect">
            <a:avLst/>
          </a:prstGeom>
          <a:solidFill>
            <a:srgbClr val="8AA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5564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데이터 수집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755648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공공데이터 API  (열린데이터광장 / 공공데이터포털)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30428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A4B8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32304"/>
            <a:ext cx="8778240" cy="73152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432304"/>
            <a:ext cx="1920240" cy="731520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1518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저장 및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615184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PostgreSQL + PostGIS + Redis  |  NetworkX · scipy · numpy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16382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A4B8"/>
                </a:solidFill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39"/>
            <a:ext cx="8778240" cy="73152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91839"/>
            <a:ext cx="192024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747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API 서버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474720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FastAPI  —  /api/od/flows · /api/advisor · /api/barriers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4023359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A4B8"/>
                </a:solidFill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51376"/>
            <a:ext cx="8778240" cy="73152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151376"/>
            <a:ext cx="1920240" cy="731520"/>
          </a:xfrm>
          <a:prstGeom prst="rect">
            <a:avLst/>
          </a:prstGeom>
          <a:solidFill>
            <a:srgbClr val="7B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33425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프론트엔드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4334256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React + Vite + MapLibre GL + Deck.gl (2D·3D 전환)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882896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A4B8"/>
                </a:solidFill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10912"/>
            <a:ext cx="8778240" cy="73152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010912"/>
            <a:ext cx="1920240" cy="731520"/>
          </a:xfrm>
          <a:prstGeom prst="rect">
            <a:avLst/>
          </a:prstGeom>
          <a:solidFill>
            <a:srgbClr val="C0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19379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AI 해설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5193792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Anthropic Claude Haiku API  —  창업 어드바이저 자연어 생성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9760" y="1572768"/>
            <a:ext cx="2377440" cy="429768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1664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BD08D"/>
                </a:solidFill>
              </a:rPr>
              <a:t>배포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05740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AA4B8"/>
                </a:solidFill>
              </a:rPr>
              <a:t>프론트엔드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Vercel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900" b="1">
                <a:solidFill>
                  <a:srgbClr val="8AA4B8"/>
                </a:solidFill>
              </a:rPr>
              <a:t>백엔드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Railway (Docker)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900" b="1">
                <a:solidFill>
                  <a:srgbClr val="8AA4B8"/>
                </a:solidFill>
              </a:rPr>
              <a:t>데이터베이스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Supabase
PostgreSQL+PostGIS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D08D"/>
                </a:solidFill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IA  —  화면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3개 영역이 유기적으로 연결됩니다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3657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3200400" cy="438912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72768"/>
            <a:ext cx="3200400" cy="384048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27632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컨트롤 패널 (우측)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029968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D08D"/>
                </a:solidFill>
              </a:rPr>
              <a:t>업종 선택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창업 희망 업종 드롭다운</a:t>
            </a:r>
          </a:p>
          <a:p>
            <a:pPr algn="l"/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7BD08D"/>
                </a:solidFill>
              </a:rPr>
              <a:t>자치구 필터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복수 선택 · 전체/해제</a:t>
            </a:r>
          </a:p>
          <a:p>
            <a:pPr algn="l"/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7BD08D"/>
                </a:solidFill>
              </a:rPr>
              <a:t>분기 선택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2025Q1 ~ Q4</a:t>
            </a:r>
          </a:p>
          <a:p>
            <a:pPr algn="l"/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7BD08D"/>
                </a:solidFill>
              </a:rPr>
              <a:t>AI 어드바이저 결과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추천·주의·비추천 카드</a:t>
            </a:r>
          </a:p>
          <a:p>
            <a:pPr algn="l"/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7BD08D"/>
                </a:solidFill>
              </a:rPr>
              <a:t>OD 흐름 제어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목적·시간·강도 슬라이더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1572768"/>
            <a:ext cx="4663440" cy="438912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9039" y="1572768"/>
            <a:ext cx="4663440" cy="38404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13632" y="1627632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지도 (중앙)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2" y="2029968"/>
            <a:ext cx="4389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A4B8"/>
                </a:solidFill>
              </a:rPr>
              <a:t>MapLibre GL 기반 서울 지도</a:t>
            </a:r>
          </a:p>
          <a:p>
            <a:pPr algn="l"/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F5C518"/>
                </a:solidFill>
              </a:rPr>
              <a:t>상권 노드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GRI 점수로 색상·크기 인코딩</a:t>
            </a:r>
          </a:p>
          <a:p>
            <a:pPr algn="l"/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F5C518"/>
                </a:solidFill>
              </a:rPr>
              <a:t>OD 흐름 레이어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Deck.gl 파티클 애니메이션</a:t>
            </a:r>
          </a:p>
          <a:p>
            <a:pPr algn="l"/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F5C518"/>
                </a:solidFill>
              </a:rPr>
              <a:t>흐름 단절 레이어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실 도로 경로 + 입자 효과</a:t>
            </a:r>
          </a:p>
          <a:p>
            <a:pPr algn="l"/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F5C518"/>
                </a:solidFill>
              </a:rPr>
              <a:t>3D 뷰 모드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원기둥 높이·색상 위험도 표현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1572768"/>
            <a:ext cx="3200400" cy="438912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200400" cy="384048"/>
          </a:xfrm>
          <a:prstGeom prst="rect">
            <a:avLst/>
          </a:prstGeom>
          <a:solidFill>
            <a:srgbClr val="7B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9952" y="1627632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상세 패널 (클릭 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2029968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B8D0"/>
                </a:solidFill>
              </a:rPr>
              <a:t>GRI 게이지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0~100 + 백분위</a:t>
            </a:r>
          </a:p>
          <a:p>
            <a:pPr algn="l"/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7BB8D0"/>
                </a:solidFill>
              </a:rPr>
              <a:t>분기별 추이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TrendChart 시계열</a:t>
            </a:r>
          </a:p>
          <a:p>
            <a:pPr algn="l"/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7BB8D0"/>
                </a:solidFill>
              </a:rPr>
              <a:t>유동인구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순유입 · 목적별</a:t>
            </a:r>
          </a:p>
          <a:p>
            <a:pPr algn="l"/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7BB8D0"/>
                </a:solidFill>
              </a:rPr>
              <a:t>폐업률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업종별 비교</a:t>
            </a:r>
          </a:p>
          <a:p>
            <a:pPr algn="l"/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7BB8D0"/>
                </a:solidFill>
              </a:rPr>
              <a:t>지자체 대응 제안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R4~R7 자동 매칭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AA4B8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AA4B8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D08D"/>
                </a:solidFill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IA  —  사용자 흐름 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예비 창업자 김미숙(53세, 송파구)이 강남 반찬가게 입지를 찾는 과정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3657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2212848" cy="420624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72768"/>
            <a:ext cx="2212848" cy="40233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27632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업종·자치구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66543"/>
            <a:ext cx="2011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반찬가게 선택
강남구 체크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338328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AA4B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0048" y="1572768"/>
            <a:ext cx="2212848" cy="420624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70048" y="1572768"/>
            <a:ext cx="2212848" cy="40233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1488" y="1627632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5536" y="162763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AI 분석 실행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2066543"/>
            <a:ext cx="2011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'분석하기' 클릭
30초 내 결과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2896" y="338328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AA4B8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74336" y="1572768"/>
            <a:ext cx="2212848" cy="420624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74336" y="1572768"/>
            <a:ext cx="2212848" cy="402336"/>
          </a:xfrm>
          <a:prstGeom prst="rect">
            <a:avLst/>
          </a:prstGeom>
          <a:solidFill>
            <a:srgbClr val="7B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65776" y="1627632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9824" y="162763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추천 카드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5776" y="2066543"/>
            <a:ext cx="2011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추천 3개·주의 3개
비추천 3개 + 이유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7184" y="338328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AA4B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78624" y="1572768"/>
            <a:ext cx="2212848" cy="420624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78624" y="1572768"/>
            <a:ext cx="2212848" cy="402336"/>
          </a:xfrm>
          <a:prstGeom prst="rect">
            <a:avLst/>
          </a:prstGeom>
          <a:solidFill>
            <a:srgbClr val="C0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0064" y="1627632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2" y="162763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상권 클릭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0064" y="2066543"/>
            <a:ext cx="2011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지도에서 위치 확인
GRI·폐업률 상세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91472" y="338328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AA4B8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82912" y="1572768"/>
            <a:ext cx="2212848" cy="420624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82912" y="1572768"/>
            <a:ext cx="2212848" cy="402336"/>
          </a:xfrm>
          <a:prstGeom prst="rect">
            <a:avLst/>
          </a:prstGeom>
          <a:solidFill>
            <a:srgbClr val="8AA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74352" y="1627632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162763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OD 흐름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4352" y="2066543"/>
            <a:ext cx="2011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오전 10시 쇼핑 유입
시간대별 패턴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897880"/>
            <a:ext cx="11247120" cy="65836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80176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BD08D"/>
                </a:solidFill>
              </a:rPr>
              <a:t>결과: 강남 대치동 B상권 선택 → 유동인구 상위 20%, 반찬가게 폐업률 낮음, 귀가 유입 강함 → 입지 결정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D08D"/>
                </a:solidFill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시장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창업 상권 분석 수요는 크지만, 접근 가능한 도구가 없습니다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3657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5394960" cy="192024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5394960" cy="384048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3677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서울시 연간
신규 창업자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약 10만 명
(중소벤처기업부 2024)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572768"/>
            <a:ext cx="5394960" cy="192024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572768"/>
            <a:ext cx="5394960" cy="38404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3677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서울시
소상공인 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121408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약 70만 명
(통계청 2024)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75887"/>
            <a:ext cx="5394960" cy="192024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75887"/>
            <a:ext cx="5394960" cy="384048"/>
          </a:xfrm>
          <a:prstGeom prst="rect">
            <a:avLst/>
          </a:prstGeom>
          <a:solidFill>
            <a:srgbClr val="7B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73989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소상공인
연간 폐업률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24527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약 15%
= 연 10만 명 폐업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675887"/>
            <a:ext cx="5394960" cy="192024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3675887"/>
            <a:ext cx="5394960" cy="384048"/>
          </a:xfrm>
          <a:prstGeom prst="rect">
            <a:avLst/>
          </a:prstGeom>
          <a:solidFill>
            <a:srgbClr val="E5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73989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창업 전
상권 분석 도구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224527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전문 도구 부재
공공데이터 수동 취합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D08D"/>
                </a:solidFill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수익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B2C + B2G 이중 수익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3657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5394960" cy="420624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5394960" cy="40233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B2C  |  창업자 유료 리포트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84831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BD08D"/>
                </a:solidFill>
              </a:rPr>
              <a:t>대상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예비 창업자, 소상공인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7BD08D"/>
                </a:solidFill>
              </a:rPr>
              <a:t>상품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상권 상세 분석 리포트 (PDF)
GRI + 경쟁 현황 + AI 해설 포함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7BD08D"/>
                </a:solidFill>
              </a:rPr>
              <a:t>가격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건당 2~5만원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7BD08D"/>
                </a:solidFill>
              </a:rPr>
              <a:t>추산 매출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연 신규 창업자 10만 × 구매율 5%
= 5,000건 × 3만원  →  연 1.5억원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72768"/>
            <a:ext cx="5394960" cy="420624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572768"/>
            <a:ext cx="5394960" cy="40233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627632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B2G  |  기관 구독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084831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C518"/>
                </a:solidFill>
              </a:rPr>
              <a:t>대상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소상공인진흥공단
각 자치구 경제과
창업지원센터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F5C518"/>
                </a:solidFill>
              </a:rPr>
              <a:t>상품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API 연동 + 대시보드 구독
위험 상권 자동 리포트 + CSV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F5C518"/>
                </a:solidFill>
              </a:rPr>
              <a:t>가격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자치구 연 500만원 구독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F5C518"/>
                </a:solidFill>
              </a:rPr>
              <a:t>추산 매출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25개 자치구 × 500만원
= 연 1.25억원
(공단 계약 시 규모 확대)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D08D"/>
                </a:solidFill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확장 가능성 및 투자 포인트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3657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3566160" cy="292608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3566160" cy="347472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014984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단기  v1.1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417320"/>
            <a:ext cx="338327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서울 전역 25개 자치구 확장
(동일 파이프라인, 데이터 재수집)
GRI 4항목 복원 (임대료 추가)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960120"/>
            <a:ext cx="3566160" cy="292608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960120"/>
            <a:ext cx="3566160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1014984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중기  v2.0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1417320"/>
            <a:ext cx="338327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전국 광역시 확장
정책 담당자 전용 대시보드
모바일 현장 조회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960120"/>
            <a:ext cx="3566160" cy="292608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960120"/>
            <a:ext cx="3566160" cy="347472"/>
          </a:xfrm>
          <a:prstGeom prst="rect">
            <a:avLst/>
          </a:prstGeom>
          <a:solidFill>
            <a:srgbClr val="C0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014984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장기  비전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1417320"/>
            <a:ext cx="338327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정부 디지털플랫폼정부 정책 연계
소상공인 지원 데이터 인프라로 통합
"창업 전 필수 확인 플랫폼"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69080"/>
            <a:ext cx="11247120" cy="233172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605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18"/>
                </a:solidFill>
              </a:rPr>
              <a:t>투자 포인트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90288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공공데이터 기반  →  데이터 조달 비용 사실상 0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• AI·자동화로 분석 운영 인건비 최소화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• B2G 시장  →  안정적 장기 계약 기반 (자치구·공단)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• 서울 강남·관악 MVP 검증 완료  →  전국 확장 리스크 낮음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D08D"/>
                </a:solidFill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활용방안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예비 창업자, 행정기관, 연구기관이 함께 쓰는 의사결정 도구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3657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3611880" cy="45720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72768"/>
            <a:ext cx="3611880" cy="347472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62763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예비 창업자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29967"/>
            <a:ext cx="3429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AI 어드바이저로 업종별 후보 상권 비교
• 점포 계약 전 GRI·폐업률·유동인구 확인
• CSV 출력 → 가족·상담사와 함께 검토
• 임대 조건만 보고 결정하는 위험 감소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572768"/>
            <a:ext cx="3611880" cy="45720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572768"/>
            <a:ext cx="3611880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162763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자치구청 / 소상공인 지원기관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029967"/>
            <a:ext cx="3429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GRI 기반 위험 상권 선제 모니터링
• 상권 활성화 예산 배분 근거 자료
• 골목상권 지원사업 후보 선정
• 컨설팅·금융지원 대상 발굴
• /api/export/csv → 결재 문서 즉시 전환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572768"/>
            <a:ext cx="3611880" cy="45720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72768"/>
            <a:ext cx="3611880" cy="347472"/>
          </a:xfrm>
          <a:prstGeom prst="rect">
            <a:avLst/>
          </a:prstGeom>
          <a:solidFill>
            <a:srgbClr val="7B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62763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도시재생 전문가 / 연구기관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029967"/>
            <a:ext cx="3429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흐름 단절 구간으로 보행 환경 개선 후보지 검토
• /api/barriers, /api/barrier-routes 활용
• 상권 간 접근성 저하 구간 분석
• 재생 우선 후보지 선정 근거 자료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D08D"/>
                </a:solidFill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기대효과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폐업 후 대응에서 위험 신호 사전 발견으로 상권 지원 체계를 전환합니다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3657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3611880" cy="45720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72768"/>
            <a:ext cx="3611880" cy="347472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62763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창업 실패 비용 감소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29967"/>
            <a:ext cx="3429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GRI 위험 상권을 사전에 피해 창업하면
폐업 확률을 낮출 수 있습니다.
H3 검증: 위험 상권 폐업률 = 안전 상권의 14.5배
입지 선택 단계에서의 잘못된 결정이
가장 큰 창업 실패 원인임을 데이터로 확인했습니다.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572768"/>
            <a:ext cx="3611880" cy="45720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572768"/>
            <a:ext cx="3611880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162763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행정 사전 개입 가능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029967"/>
            <a:ext cx="3429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GRI는 다음 분기 폐업을 미리 가리키는
정책 선별 지표로 활용 가능합니다.
폐업 발생 후 대응 → 위험 신호 선발견 후 개입
규칙 기반 정책 카드(R4~R7)와 CSV 출력으로
수기 보고 시간 단축, 근거 자료 즉시 생성.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572768"/>
            <a:ext cx="3611880" cy="457200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72768"/>
            <a:ext cx="3611880" cy="347472"/>
          </a:xfrm>
          <a:prstGeom prst="rect">
            <a:avLst/>
          </a:prstGeom>
          <a:solidFill>
            <a:srgbClr val="7B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62763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분석 투명성 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029967"/>
            <a:ext cx="3429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5개 검증 항목(H1·H2·H3, B1·B3)을
화면에서 직접 공개합니다.
한계(H1 효과 약함, H2 표본 소규모)도 함께 명시해
맹목적 신뢰가 아닌 근거 기반 판단을 지원합니다.
정책 카드는 생성형 AI 없이 규칙 기반으로 생성 →
환각 없음, 감사·보고 과정에서 추적 가능.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D08D"/>
                </a:solidFill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개발 툴 및 참고문헌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36576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7132320" cy="329184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042415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BD08D"/>
                </a:solidFill>
              </a:rPr>
              <a:t>개발 툴 및 기술 스택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44752"/>
            <a:ext cx="1801368" cy="384048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499616"/>
            <a:ext cx="1700784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분류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444752"/>
            <a:ext cx="5257800" cy="384048"/>
          </a:xfrm>
          <a:prstGeom prst="rect">
            <a:avLst/>
          </a:prstGeom>
          <a:solidFill>
            <a:srgbClr val="7B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40864" y="1499616"/>
            <a:ext cx="5157216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기술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1801368" cy="38404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874519"/>
            <a:ext cx="17007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D08D"/>
                </a:solidFill>
              </a:rPr>
              <a:t>백엔드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1828800"/>
            <a:ext cx="5257800" cy="38404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40864" y="1874519"/>
            <a:ext cx="51572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Python · FastAPI · SQLAlchemy · PostgreSQL+PostGIS · Redis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12848"/>
            <a:ext cx="1801368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258568"/>
            <a:ext cx="17007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D08D"/>
                </a:solidFill>
              </a:rPr>
              <a:t>프론트엔드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2212848"/>
            <a:ext cx="525780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40864" y="2258568"/>
            <a:ext cx="51572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React · Vite · TypeScript · MapLibre GL · Deck.gl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96896"/>
            <a:ext cx="1801368" cy="38404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2642615"/>
            <a:ext cx="17007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D08D"/>
                </a:solidFill>
              </a:rPr>
              <a:t>분석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2596896"/>
            <a:ext cx="5257800" cy="38404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40864" y="2642615"/>
            <a:ext cx="51572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NetworkX · scipy · numpy · pandas · geopandas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80944"/>
            <a:ext cx="1801368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3026663"/>
            <a:ext cx="17007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D08D"/>
                </a:solidFill>
              </a:rPr>
              <a:t>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2980944"/>
            <a:ext cx="525780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40864" y="3026663"/>
            <a:ext cx="51572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Anthropic Claude Haiku (claude-haiku-4-5-20251001)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364992"/>
            <a:ext cx="1801368" cy="38404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3410712"/>
            <a:ext cx="17007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D08D"/>
                </a:solidFill>
              </a:rPr>
              <a:t>배포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3364992"/>
            <a:ext cx="5257800" cy="384048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40864" y="3410712"/>
            <a:ext cx="51572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Vercel (프론트) · Railway Docker (백엔드) · Supabase (DB)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960120"/>
            <a:ext cx="4114800" cy="329184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1042415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</a:rPr>
              <a:t>공공데이터 출처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1481328"/>
            <a:ext cx="374903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OA-14991  서울 생활인구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OA-15577  상권분석 (점포)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OA-15572  상권분석 (매출)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OA-15576  상권변화지표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OA-22300  수도권 광역 OD</a:t>
            </a:r>
          </a:p>
          <a:p>
            <a:pPr algn="l"/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8AA4B8"/>
                </a:solidFill>
              </a:rPr>
              <a:t>행정동 경계 SHP  (행정안전부)</a:t>
            </a:r>
          </a:p>
          <a:p>
            <a:pPr algn="l"/>
            <a:r>
              <a:rPr sz="1000" b="0">
                <a:solidFill>
                  <a:srgbClr val="8AA4B8"/>
                </a:solidFill>
              </a:rPr>
              <a:t>상권 경계 SHP  (서울 열린데이터광장)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407408"/>
            <a:ext cx="11247120" cy="1920240"/>
          </a:xfrm>
          <a:prstGeom prst="rect">
            <a:avLst/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44805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BB8D0"/>
                </a:solidFill>
              </a:rPr>
              <a:t>참고문헌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892040"/>
            <a:ext cx="10515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서울 열린데이터광장  https://data.seoul.go.kr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• 공공데이터포털  https://www.data.go.kr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• 중소벤처기업부 소상공인 통계 2024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• Anthropic Claude API Documentation  https://docs.anthropic.com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• NetworkX Documentation  https://networkx.org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